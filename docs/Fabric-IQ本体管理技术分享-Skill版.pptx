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594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微软 Fabric IQ 本体管理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架构详解、构建流程与开源替代方案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技术分享  |  2026年3月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6217920"/>
            <a:ext cx="3657600" cy="25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46304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为什么需要本体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50876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数据孤岛的根源与语义统一的价值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37744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7744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Fabric IQ 本体架构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42316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核心概念、构建流程与数据绑定机制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0175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29184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9184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开源替代方案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33756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对标 Fabric IQ 的开源技术栈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9319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20624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20624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关键要点与行动建议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25196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从概念到落地的核心总结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8463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微软本体管理功能深度解析, Fabric IQ 博客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本体是企业数据与 AI 之间的缺失环节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200400" cy="457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2926080" cy="4572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问题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200400" cy="13716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2926080" cy="11887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数据可查询</a:t>
            </a:r>
            <a:br/>
            <a:r>
              <a:rPr>
                <a:ea typeface="KaiTi"/>
              </a:rPr>
              <a:t>但不可理解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4495647" y="1371600"/>
            <a:ext cx="3200400" cy="457200"/>
          </a:xfrm>
          <a:prstGeom prst="rect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2807" y="1371600"/>
            <a:ext cx="2926080" cy="4572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方案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5647" y="1828800"/>
            <a:ext cx="3200400" cy="1371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2807" y="1920240"/>
            <a:ext cx="2926080" cy="11887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Fabric IQ</a:t>
            </a:r>
            <a:br/>
            <a:r>
              <a:rPr>
                <a:ea typeface="KaiTi"/>
              </a:rPr>
              <a:t>语义枢纽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59775" y="1371600"/>
            <a:ext cx="3200400" cy="45720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6935" y="1371600"/>
            <a:ext cx="2926080" cy="4572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替代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59775" y="1828800"/>
            <a:ext cx="3200400" cy="13716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6935" y="1920240"/>
            <a:ext cx="2926080" cy="11887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Protégé + Morph-KGC</a:t>
            </a:r>
            <a:br/>
            <a:r>
              <a:rPr>
                <a:ea typeface="KaiTi"/>
              </a:rPr>
              <a:t>+ Neo4j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840480"/>
            <a:ext cx="10728655" cy="2011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931920"/>
            <a:ext cx="18288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关键洞见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343400"/>
            <a:ext cx="10180015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同词异义、数据孤岛阻碍 AI 落地——企业数据缺少统一语义层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Fabric IQ 通过本体下连数据（OneLake），上接 AI（Data Agent）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开源方案 Protégé + Morph-KGC + Neo4j 可复现核心能力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本体让数据从"可查"升级为"可理解、可推理、可行动"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微软本体管理功能深度解析; 开源本体数据映射工具梳理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Fabric IQ 本体 = 连接数据与 AI 的语义枢纽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8655" cy="365760"/>
          </a:xfrm>
          <a:prstGeom prst="rect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43000"/>
            <a:ext cx="10454335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应用层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1887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1645920"/>
            <a:ext cx="3210458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3027578" cy="7315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Data Agent — 自然语言交互</a:t>
            </a:r>
          </a:p>
        </p:txBody>
      </p:sp>
      <p:sp>
        <p:nvSpPr>
          <p:cNvPr id="9" name="Rectangle 8"/>
          <p:cNvSpPr/>
          <p:nvPr/>
        </p:nvSpPr>
        <p:spPr>
          <a:xfrm>
            <a:off x="4490618" y="1645920"/>
            <a:ext cx="3210458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2058" y="1691640"/>
            <a:ext cx="3027578" cy="7315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知识图谱 — 图遍历查询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75396" y="1645920"/>
            <a:ext cx="3210458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6836" y="1691640"/>
            <a:ext cx="3027578" cy="7315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统一语义层 — 共享复用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971800"/>
            <a:ext cx="10728655" cy="36576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971800"/>
            <a:ext cx="10454335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语义层（本体）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337560"/>
            <a:ext cx="10728655" cy="11887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05840" y="3474720"/>
            <a:ext cx="2339263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520440"/>
            <a:ext cx="2156383" cy="7315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实体类型 Entity Type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19423" y="3474720"/>
            <a:ext cx="2339263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10863" y="3520440"/>
            <a:ext cx="2156383" cy="7315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关系类型 Relationship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3007" y="3474720"/>
            <a:ext cx="2339263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4447" y="3520440"/>
            <a:ext cx="2156383" cy="7315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规则 Rule (OWL)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46591" y="3474720"/>
            <a:ext cx="2339263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38031" y="3520440"/>
            <a:ext cx="2156383" cy="7315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数据绑定 Data Binding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800600"/>
            <a:ext cx="10728655" cy="365760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800600"/>
            <a:ext cx="10454335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数据层（OneLake）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166360"/>
            <a:ext cx="10728655" cy="11887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05840" y="5303520"/>
            <a:ext cx="3210458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5349240"/>
            <a:ext cx="3027578" cy="7315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Lakehouse — 批量数据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90618" y="5303520"/>
            <a:ext cx="3210458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82058" y="5349240"/>
            <a:ext cx="3027578" cy="7315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Eventhouse — 实时时序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75396" y="5303520"/>
            <a:ext cx="3210458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66836" y="5349240"/>
            <a:ext cx="3027578" cy="7315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语义模型 — Power BI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2697480"/>
            <a:ext cx="18288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▼  ▼  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4526280"/>
            <a:ext cx="18288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▼  ▼  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Fabric IQ 本体构建流程详解; 微软本体管理功能深度解析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8 个核心概念：类比关系型数据库即可快速理解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6459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本体概念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1371600"/>
            <a:ext cx="201168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英文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371600"/>
            <a:ext cx="41148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定义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371600"/>
            <a:ext cx="292608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数据库类比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1072865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164592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实体类型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874519"/>
            <a:ext cx="201168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Entity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874519"/>
            <a:ext cx="411480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业务概念，可绑定数据表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1874519"/>
            <a:ext cx="292608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表结构（Schema）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423159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423159"/>
            <a:ext cx="164592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实体类型键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423159"/>
            <a:ext cx="201168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Entity Type Key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423159"/>
            <a:ext cx="411480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唯一标识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423159"/>
            <a:ext cx="292608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主键（PK）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971799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971799"/>
            <a:ext cx="164592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实体实例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2971799"/>
            <a:ext cx="201168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Entity Instance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971799"/>
            <a:ext cx="411480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实体的具体数据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971799"/>
            <a:ext cx="292608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一行记录（Row）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520439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520439"/>
            <a:ext cx="164592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属性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3520439"/>
            <a:ext cx="201168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Property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3520439"/>
            <a:ext cx="411480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实体特征，可绑定字段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520439"/>
            <a:ext cx="292608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列（Column）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069079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069079"/>
            <a:ext cx="164592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关系类型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4069079"/>
            <a:ext cx="201168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Relationship Type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4069079"/>
            <a:ext cx="411480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实体间关联定义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069079"/>
            <a:ext cx="292608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外键约束（FK）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617719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617719"/>
            <a:ext cx="164592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关系实例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77440" y="4617719"/>
            <a:ext cx="201168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Relationship Instance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4617719"/>
            <a:ext cx="411480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关联的具体数据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4617719"/>
            <a:ext cx="292608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FK 匹配的记录对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5166359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5166359"/>
            <a:ext cx="164592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数据绑定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77440" y="5166359"/>
            <a:ext cx="201168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Data Binding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0" y="5166359"/>
            <a:ext cx="411480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本体与数据源的映射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5166359"/>
            <a:ext cx="292608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SQL 映射规则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5714999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714999"/>
            <a:ext cx="164592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规则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77440" y="5714999"/>
            <a:ext cx="201168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Rule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0" y="5714999"/>
            <a:ext cx="411480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基于 OWL 2 RL 的逻辑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5714999"/>
            <a:ext cx="292608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触发器 / 存储过程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" y="6263639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" y="5943600"/>
            <a:ext cx="10362895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关键理解：本体中的每个概念都可以直接映射到你熟悉的关系型数据库概念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微软本体管理功能深度解析 — 核心概念表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两条创建路径：已有模型可秒级生成，新场景需手动构建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029200" cy="411480"/>
          </a:xfrm>
          <a:prstGeom prst="rect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80160"/>
            <a:ext cx="4754880" cy="4114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从语义模型自动生成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4754880" cy="2743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前提：已有 Power BI 语义模型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表 → 实体类型，字段 → 属性（自动）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耗时：分钟级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灵活性：受限于已有模型结构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适用：快速验证、已有资产复用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280160"/>
            <a:ext cx="5029200" cy="41148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280160"/>
            <a:ext cx="4754880" cy="4114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手动构建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874519"/>
            <a:ext cx="4754880" cy="2743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前提：无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逐步定义实体、属性、关系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耗时：天级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灵活性：完全自定义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适用：全新业务建模、深度定制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280160"/>
            <a:ext cx="635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4846320"/>
            <a:ext cx="10728655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892040"/>
            <a:ext cx="18288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实践建议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12080"/>
            <a:ext cx="10180015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先用手动构建理解核心概念，再用自动生成快速扩展。两种方式可混合使用。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Fabric IQ 本体构建流程详解 — 两种创建方式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5 阶段构建流程：从空白本体到可查询的知识图谱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280160"/>
            <a:ext cx="365760" cy="36576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280160"/>
            <a:ext cx="1463040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创建本体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83080"/>
            <a:ext cx="192024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1737360" cy="16459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新建 Ontology 项目</a:t>
            </a:r>
            <a:br/>
            <a:r>
              <a:rPr>
                <a:ea typeface="KaiTi"/>
              </a:rPr>
              <a:t>选择创建方式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011680"/>
            <a:ext cx="28186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▶</a:t>
            </a:r>
          </a:p>
        </p:txBody>
      </p:sp>
      <p:sp>
        <p:nvSpPr>
          <p:cNvPr id="9" name="Oval 8"/>
          <p:cNvSpPr/>
          <p:nvPr/>
        </p:nvSpPr>
        <p:spPr>
          <a:xfrm>
            <a:off x="2933623" y="1280160"/>
            <a:ext cx="365760" cy="36576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90823" y="1280160"/>
            <a:ext cx="1463040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6BA6"/>
                </a:solidFill>
                <a:latin typeface="Arial"/>
              </a:defRPr>
            </a:pPr>
            <a:r>
              <a:rPr>
                <a:ea typeface="KaiTi"/>
              </a:rPr>
              <a:t>定义实体类型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33623" y="1783080"/>
            <a:ext cx="192024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25063" y="1874519"/>
            <a:ext cx="1737360" cy="16459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添加 Entity Type</a:t>
            </a:r>
            <a:br/>
            <a:r>
              <a:rPr>
                <a:ea typeface="KaiTi"/>
              </a:rPr>
              <a:t>设置属性与主键</a:t>
            </a:r>
            <a:br/>
            <a:r>
              <a:rPr>
                <a:ea typeface="KaiTi"/>
              </a:rPr>
              <a:t>绑定数据源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3863" y="2011680"/>
            <a:ext cx="28186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6BA6"/>
                </a:solidFill>
                <a:latin typeface="Arial"/>
              </a:defRPr>
            </a:pPr>
            <a:r>
              <a:rPr>
                <a:ea typeface="KaiTi"/>
              </a:rPr>
              <a:t>▶</a:t>
            </a:r>
          </a:p>
        </p:txBody>
      </p:sp>
      <p:sp>
        <p:nvSpPr>
          <p:cNvPr id="14" name="Oval 13"/>
          <p:cNvSpPr/>
          <p:nvPr/>
        </p:nvSpPr>
        <p:spPr>
          <a:xfrm>
            <a:off x="5135727" y="1280160"/>
            <a:ext cx="365760" cy="365760"/>
          </a:xfrm>
          <a:prstGeom prst="ellipse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92927" y="1280160"/>
            <a:ext cx="1463040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A53"/>
                </a:solidFill>
                <a:latin typeface="Arial"/>
              </a:defRPr>
            </a:pPr>
            <a:r>
              <a:rPr>
                <a:ea typeface="KaiTi"/>
              </a:rPr>
              <a:t>定义关系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35727" y="1783080"/>
            <a:ext cx="192024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27167" y="1874519"/>
            <a:ext cx="1737360" cy="16459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连接实体类型</a:t>
            </a:r>
            <a:br/>
            <a:r>
              <a:rPr>
                <a:ea typeface="KaiTi"/>
              </a:rPr>
              <a:t>描述业务关联</a:t>
            </a:r>
            <a:br/>
            <a:r>
              <a:rPr>
                <a:ea typeface="KaiTi"/>
              </a:rPr>
              <a:t>绑定关系数据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5967" y="2011680"/>
            <a:ext cx="28186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7A53"/>
                </a:solidFill>
                <a:latin typeface="Arial"/>
              </a:defRPr>
            </a:pPr>
            <a:r>
              <a:rPr>
                <a:ea typeface="KaiTi"/>
              </a:rPr>
              <a:t>▶</a:t>
            </a:r>
          </a:p>
        </p:txBody>
      </p:sp>
      <p:sp>
        <p:nvSpPr>
          <p:cNvPr id="19" name="Oval 18"/>
          <p:cNvSpPr/>
          <p:nvPr/>
        </p:nvSpPr>
        <p:spPr>
          <a:xfrm>
            <a:off x="7337831" y="1280160"/>
            <a:ext cx="365760" cy="365760"/>
          </a:xfrm>
          <a:prstGeom prst="ellipse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5031" y="1280160"/>
            <a:ext cx="1463040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6A00"/>
                </a:solidFill>
                <a:latin typeface="Arial"/>
              </a:defRPr>
            </a:pPr>
            <a:r>
              <a:rPr>
                <a:ea typeface="KaiTi"/>
              </a:rPr>
              <a:t>配置规则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37831" y="1783080"/>
            <a:ext cx="192024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29271" y="1874519"/>
            <a:ext cx="1737360" cy="16459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OWL 2 RL 规则逻辑</a:t>
            </a:r>
            <a:br/>
            <a:r>
              <a:rPr>
                <a:ea typeface="KaiTi"/>
              </a:rPr>
              <a:t>触发自动化动作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8071" y="2011680"/>
            <a:ext cx="28186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46A00"/>
                </a:solidFill>
                <a:latin typeface="Arial"/>
              </a:defRPr>
            </a:pPr>
            <a:r>
              <a:rPr>
                <a:ea typeface="KaiTi"/>
              </a:rPr>
              <a:t>▶</a:t>
            </a:r>
          </a:p>
        </p:txBody>
      </p:sp>
      <p:sp>
        <p:nvSpPr>
          <p:cNvPr id="24" name="Oval 23"/>
          <p:cNvSpPr/>
          <p:nvPr/>
        </p:nvSpPr>
        <p:spPr>
          <a:xfrm>
            <a:off x="9539935" y="1280160"/>
            <a:ext cx="365760" cy="36576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97135" y="1280160"/>
            <a:ext cx="1463040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62828"/>
                </a:solidFill>
                <a:latin typeface="Arial"/>
              </a:defRPr>
            </a:pPr>
            <a:r>
              <a:rPr>
                <a:ea typeface="KaiTi"/>
              </a:rPr>
              <a:t>预览验证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39935" y="1783080"/>
            <a:ext cx="192024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31375" y="1874519"/>
            <a:ext cx="1737360" cy="16459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查看实体实例</a:t>
            </a:r>
            <a:br/>
            <a:r>
              <a:rPr>
                <a:ea typeface="KaiTi"/>
              </a:rPr>
              <a:t>可视化关系图</a:t>
            </a:r>
            <a:br/>
            <a:r>
              <a:rPr>
                <a:ea typeface="KaiTi"/>
              </a:rPr>
              <a:t>图引擎查询测试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388620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023360"/>
            <a:ext cx="10728655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构建产出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434840"/>
            <a:ext cx="32004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4434840"/>
            <a:ext cx="3200400" cy="38100"/>
          </a:xfrm>
          <a:prstGeom prst="rect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572000"/>
            <a:ext cx="292608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A53"/>
                </a:solidFill>
                <a:latin typeface="Arial"/>
              </a:defRPr>
            </a:pPr>
            <a:r>
              <a:rPr>
                <a:ea typeface="KaiTi"/>
              </a:rPr>
              <a:t>知识图谱 (Graph)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4983480"/>
            <a:ext cx="292608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自动生成，支持图遍历查询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95647" y="4434840"/>
            <a:ext cx="32004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95647" y="4434840"/>
            <a:ext cx="3200400" cy="3810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32807" y="4572000"/>
            <a:ext cx="292608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6BA6"/>
                </a:solidFill>
                <a:latin typeface="Arial"/>
              </a:defRPr>
            </a:pPr>
            <a:r>
              <a:rPr>
                <a:ea typeface="KaiTi"/>
              </a:rPr>
              <a:t>Data Agent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32807" y="4983480"/>
            <a:ext cx="292608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AI 智能体，自然语言交互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59775" y="4434840"/>
            <a:ext cx="32004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59775" y="4434840"/>
            <a:ext cx="3200400" cy="381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96935" y="4572000"/>
            <a:ext cx="292608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统一语义层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96935" y="4983480"/>
            <a:ext cx="292608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下游应用共享业务语义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Fabric IQ 本体构建流程详解 — 完整构建流程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数据绑定机制：本体不存数据，只做"翻译"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01168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实体类型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280160"/>
            <a:ext cx="301752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属性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1280160"/>
            <a:ext cx="118872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主键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1280160"/>
            <a:ext cx="201168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绑定表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1280160"/>
            <a:ext cx="246888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数据源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1072865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201168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Store（门店）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737360"/>
            <a:ext cx="301752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store_id, name, address, region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737360"/>
            <a:ext cx="118872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store_id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737360"/>
            <a:ext cx="201168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dim_store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1737360"/>
            <a:ext cx="246888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Lakehouse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19456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194560"/>
            <a:ext cx="201168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Employee（员工）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194560"/>
            <a:ext cx="301752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emp_id, name, role, hire_date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194560"/>
            <a:ext cx="118872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emp_id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194560"/>
            <a:ext cx="201168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dim_employee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194560"/>
            <a:ext cx="246888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Lakehouse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65176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651760"/>
            <a:ext cx="201168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SaleEvent（销售事件）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2651760"/>
            <a:ext cx="301752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event_id, timestamp, amount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2651760"/>
            <a:ext cx="118872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event_id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2651760"/>
            <a:ext cx="201168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sales_stream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2651760"/>
            <a:ext cx="246888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Eventhouse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10896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383280"/>
            <a:ext cx="45720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映射规则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749039"/>
            <a:ext cx="18288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本体层（语义）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3749039"/>
            <a:ext cx="4572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3749039"/>
            <a:ext cx="22860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数据层（存储）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4069080"/>
            <a:ext cx="45720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114799"/>
            <a:ext cx="18288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Entity Type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0" y="4114799"/>
            <a:ext cx="4572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7520" y="4114799"/>
            <a:ext cx="22860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Table（表）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480559"/>
            <a:ext cx="45720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480559"/>
            <a:ext cx="18288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Property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60320" y="4480559"/>
            <a:ext cx="4572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17520" y="4480559"/>
            <a:ext cx="22860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Column（字段）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4846319"/>
            <a:ext cx="45720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4846319"/>
            <a:ext cx="18288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Entity Type Key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60320" y="4846319"/>
            <a:ext cx="4572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17520" y="4846319"/>
            <a:ext cx="22860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Primary Key（主键）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5212079"/>
            <a:ext cx="45720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212079"/>
            <a:ext cx="18288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Relationship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60320" y="5212079"/>
            <a:ext cx="4572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17520" y="5212079"/>
            <a:ext cx="22860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Join Table / FK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" y="5577839"/>
            <a:ext cx="45720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17920" y="3383280"/>
            <a:ext cx="5212080" cy="2560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92240" y="3474720"/>
            <a:ext cx="475488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工作原理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3886200"/>
            <a:ext cx="4754880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1. 用户在 Protégé / Fabric 中定义本体结构</a:t>
            </a:r>
          </a:p>
          <a:p>
            <a:pPr algn="l">
              <a:lnSpc>
                <a:spcPts val="1890"/>
              </a:lnSpc>
              <a:spcBef>
                <a:spcPts val="6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2. 通过 Data Binding 映射到底层表和字段</a:t>
            </a:r>
          </a:p>
          <a:p>
            <a:pPr algn="l">
              <a:lnSpc>
                <a:spcPts val="1890"/>
              </a:lnSpc>
              <a:spcBef>
                <a:spcPts val="6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3. 查询时，系统自动翻译为 SQL / KQL</a:t>
            </a:r>
          </a:p>
          <a:p>
            <a:pPr algn="l">
              <a:lnSpc>
                <a:spcPts val="1890"/>
              </a:lnSpc>
              <a:spcBef>
                <a:spcPts val="6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4. 结果组装为 Entity Instance 返回</a:t>
            </a:r>
          </a:p>
          <a:p>
            <a:pPr algn="l">
              <a:lnSpc>
                <a:spcPts val="1890"/>
              </a:lnSpc>
              <a:spcBef>
                <a:spcPts val="6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lnSpc>
                <a:spcPts val="1890"/>
              </a:lnSpc>
              <a:spcBef>
                <a:spcPts val="6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本体 = 元数据映射层，不复制数据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Fabric IQ 本体构建流程详解 — 数据绑定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关系与规则：让数据从"可查"升级为"可推理"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关系类型（Relationship Type）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1828800" cy="7315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645920" cy="7315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Store</a:t>
            </a:r>
            <a:br/>
            <a:r>
              <a:rPr>
                <a:ea typeface="KaiTi"/>
              </a:rPr>
              <a:t>门店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2103120"/>
            <a:ext cx="1828800" cy="7315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2103120"/>
            <a:ext cx="1645920" cy="7315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Employee</a:t>
            </a:r>
            <a:br/>
            <a:r>
              <a:rPr>
                <a:ea typeface="KaiTi"/>
              </a:rPr>
              <a:t>员工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3657600"/>
            <a:ext cx="1828800" cy="7315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3657600"/>
            <a:ext cx="1645920" cy="7315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SaleEvent</a:t>
            </a:r>
            <a:br/>
            <a:r>
              <a:rPr>
                <a:ea typeface="KaiTi"/>
              </a:rPr>
              <a:t>销售事件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828800"/>
            <a:ext cx="13716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employs 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108960"/>
            <a:ext cx="22860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generates 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834640"/>
            <a:ext cx="13716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completes 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188720"/>
            <a:ext cx="45720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规则引擎（OWL 2 RL）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1645920"/>
            <a:ext cx="484632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1691640"/>
            <a:ext cx="4572000" cy="16459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Consolas"/>
              </a:defRPr>
            </a:pPr>
            <a:r>
              <a:rPr>
                <a:ea typeface="KaiTi"/>
              </a:rPr>
              <a:t>规则示例</a:t>
            </a:r>
          </a:p>
          <a:p>
            <a:pPr algn="l">
              <a:lnSpc>
                <a:spcPts val="1890"/>
              </a:lnSpc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Consolas"/>
              </a:defRPr>
            </a:pPr>
            <a:r>
              <a:rPr>
                <a:ea typeface="KaiTi"/>
              </a:rPr>
              <a:t>IF:</a:t>
            </a:r>
          </a:p>
          <a:p>
            <a:pPr algn="l">
              <a:lnSpc>
                <a:spcPts val="1890"/>
              </a:lnSpc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Consolas"/>
              </a:defRPr>
            </a:pPr>
            <a:r>
              <a:rPr>
                <a:ea typeface="KaiTi"/>
              </a:rPr>
              <a:t>  SaleEvent.amount &lt; threshold</a:t>
            </a:r>
          </a:p>
          <a:p>
            <a:pPr algn="l">
              <a:lnSpc>
                <a:spcPts val="1890"/>
              </a:lnSpc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Consolas"/>
              </a:defRPr>
            </a:pPr>
            <a:r>
              <a:rPr>
                <a:ea typeface="KaiTi"/>
              </a:rPr>
              <a:t>  AND Store.region = "华东"</a:t>
            </a:r>
          </a:p>
          <a:p>
            <a:pPr algn="l">
              <a:lnSpc>
                <a:spcPts val="1890"/>
              </a:lnSpc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Consolas"/>
              </a:defRPr>
            </a:pPr>
            <a:r>
              <a:rPr>
                <a:ea typeface="KaiTi"/>
              </a:rPr>
              <a:t>THEN:</a:t>
            </a:r>
          </a:p>
          <a:p>
            <a:pPr algn="l">
              <a:lnSpc>
                <a:spcPts val="1890"/>
              </a:lnSpc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Consolas"/>
              </a:defRPr>
            </a:pPr>
            <a:r>
              <a:rPr>
                <a:ea typeface="KaiTi"/>
              </a:rPr>
              <a:t>  触发告警动作 (Action)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7548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892040"/>
            <a:ext cx="10728655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核心能力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257800"/>
            <a:ext cx="3454298" cy="10972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257800"/>
            <a:ext cx="3454298" cy="2540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349240"/>
            <a:ext cx="3271418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关系 = 实体间的业务关联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669280"/>
            <a:ext cx="3271418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支持多对多，可绑定中间表</a:t>
            </a:r>
            <a:br/>
            <a:r>
              <a:rPr>
                <a:ea typeface="KaiTi"/>
              </a:rPr>
              <a:t>关系实例随数据自动生成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68698" y="5257800"/>
            <a:ext cx="3454298" cy="10972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68698" y="5257800"/>
            <a:ext cx="3454298" cy="2540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60138" y="5349240"/>
            <a:ext cx="3271418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规则 = 业务逻辑的形式化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0138" y="5669280"/>
            <a:ext cx="3271418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基于 W3C OWL 2 RL 标准</a:t>
            </a:r>
            <a:br/>
            <a:r>
              <a:rPr>
                <a:ea typeface="KaiTi"/>
              </a:rPr>
              <a:t>能触发告警、通知、API 调用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05876" y="5257800"/>
            <a:ext cx="3454298" cy="10972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05876" y="5257800"/>
            <a:ext cx="3454298" cy="2540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97316" y="5349240"/>
            <a:ext cx="3271418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推理 = 从已知推导未知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7316" y="5669280"/>
            <a:ext cx="3271418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基于实体属性和关系</a:t>
            </a:r>
            <a:br/>
            <a:r>
              <a:rPr>
                <a:ea typeface="KaiTi"/>
              </a:rPr>
              <a:t>自动发现隐含的业务洞察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微软本体管理功能深度解析 — 规则引擎; Fabric IQ 本体构建流程详解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三种访问方式：从技术到业务的完整覆盖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3200400" cy="3840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3200400" cy="54864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30552" y="1463040"/>
            <a:ext cx="411480" cy="41148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292608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本体实例查询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331720"/>
            <a:ext cx="265176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2834640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原理：直接查询实体和关系实例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语言：类 SQL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人群：数据工程师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场景：数据校验、实例浏览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门槛：★★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5647" y="1280160"/>
            <a:ext cx="3200400" cy="3840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95647" y="1280160"/>
            <a:ext cx="3200400" cy="54864"/>
          </a:xfrm>
          <a:prstGeom prst="rect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94679" y="1463040"/>
            <a:ext cx="411480" cy="411480"/>
          </a:xfrm>
          <a:prstGeom prst="ellipse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2807" y="1965960"/>
            <a:ext cx="292608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图引擎查询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69967" y="2331720"/>
            <a:ext cx="265176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78527" y="2468880"/>
            <a:ext cx="2834640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原理：图遍历，路径发现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语言：Cypher / SPARQL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人群：图分析师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场景：关联分析、社区发现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门槛：★★★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59775" y="1280160"/>
            <a:ext cx="3200400" cy="3840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59775" y="1280160"/>
            <a:ext cx="3200400" cy="54864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58807" y="1463040"/>
            <a:ext cx="411480" cy="411480"/>
          </a:xfrm>
          <a:prstGeom prst="ellipse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6935" y="1965960"/>
            <a:ext cx="292608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自然语言对话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34095" y="2331720"/>
            <a:ext cx="265176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42655" y="2468880"/>
            <a:ext cx="2834640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原理：Data Agent 翻译自然语言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语言：自然语言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人群：业务人员 / 管理层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场景：业务问答、数据探索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门槛：★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349240"/>
            <a:ext cx="10728655" cy="640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394960"/>
            <a:ext cx="10180015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三种方式共享同一套本体定义，确保"技术查询"和"业务提问"得到语义一致的结果。本体是唯一的语义真相来源。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微软本体管理功能深度解析 — 三种数据访问方式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开源替代方案：每个组件都有成熟的开源选择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01168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Fabric IQ 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280160"/>
            <a:ext cx="22860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开源方案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280160"/>
            <a:ext cx="292608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工具 / 标准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0" y="1280160"/>
            <a:ext cx="347472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说明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1072865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2011680" cy="5029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本体编辑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737360"/>
            <a:ext cx="2286000" cy="5029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Protégé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737360"/>
            <a:ext cx="2926080" cy="5029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OWL / RDF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0" y="1737360"/>
            <a:ext cx="3474720" cy="5029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最成熟的开源本体编辑器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2402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240280"/>
            <a:ext cx="2011680" cy="5029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数据绑定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240280"/>
            <a:ext cx="2286000" cy="5029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R2RML / RML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240280"/>
            <a:ext cx="2926080" cy="5029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W3C 标准映射语言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2240280"/>
            <a:ext cx="3474720" cy="5029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表→实体，字段→属性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74320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743200"/>
            <a:ext cx="2011680" cy="5029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映射执行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2743200"/>
            <a:ext cx="2286000" cy="5029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Morph-KGC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743200"/>
            <a:ext cx="2926080" cy="5029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Python, R2RML+RML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0" y="2743200"/>
            <a:ext cx="3474720" cy="5029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首选引擎，支持大数据量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2461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246120"/>
            <a:ext cx="2011680" cy="5029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图存储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246120"/>
            <a:ext cx="2286000" cy="5029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Neo4j 社区版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3246120"/>
            <a:ext cx="2926080" cy="5029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Cypher 查询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0" y="3246120"/>
            <a:ext cx="3474720" cy="5029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图数据库事实标准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374904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749040"/>
            <a:ext cx="2011680" cy="5029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图存储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3749040"/>
            <a:ext cx="2286000" cy="5029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Apache Jena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3749040"/>
            <a:ext cx="2926080" cy="5029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SPARQL + RDF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80" y="3749040"/>
            <a:ext cx="3474720" cy="5029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语义 Web 标准栈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25196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251960"/>
            <a:ext cx="2011680" cy="5029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规则推理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4251960"/>
            <a:ext cx="2286000" cy="5029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GraphDB / Jena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4251960"/>
            <a:ext cx="2926080" cy="5029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OWL 推理引擎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0" y="4251960"/>
            <a:ext cx="3474720" cy="5029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内置 OWL 2 RL 推理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47548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754880"/>
            <a:ext cx="2011680" cy="5029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本体桥接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0" y="4754880"/>
            <a:ext cx="2286000" cy="5029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Neosemantics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0" y="4754880"/>
            <a:ext cx="2926080" cy="5029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Neo4j 插件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80" y="4754880"/>
            <a:ext cx="3474720" cy="5029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RDF/OWL 导入导出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525780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257800"/>
            <a:ext cx="2011680" cy="5029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自然语言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0" y="5257800"/>
            <a:ext cx="2286000" cy="5029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LangChain + Neo4j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0" y="5257800"/>
            <a:ext cx="2926080" cy="5029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GraphRAG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80" y="5257800"/>
            <a:ext cx="3474720" cy="5029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LLM + 图查询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" y="57607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31520" y="5852160"/>
            <a:ext cx="10728655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" y="5852160"/>
            <a:ext cx="10362895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基于 W3C 开放标准（OWL、RDF、R2RML、RML），所有组件可自由组合，无供应商锁定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开源本体数据映射工具梳理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推荐最小可行技术栈：3 个工具覆盖完整链路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286000" cy="4572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2011680" cy="4572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Step 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2286000" cy="10972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201168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Protégé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201168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定义本体</a:t>
            </a:r>
            <a:br/>
            <a:r>
              <a:rPr>
                <a:ea typeface="KaiTi"/>
              </a:rPr>
              <a:t>(OWL/RDF)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463040"/>
            <a:ext cx="528218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45738" y="1371600"/>
            <a:ext cx="2286000" cy="45720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2898" y="1371600"/>
            <a:ext cx="2011680" cy="4572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Step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45738" y="1828800"/>
            <a:ext cx="2286000" cy="10972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2898" y="1920240"/>
            <a:ext cx="201168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6BA6"/>
                </a:solidFill>
                <a:latin typeface="Arial"/>
              </a:defRPr>
            </a:pPr>
            <a:r>
              <a:rPr>
                <a:ea typeface="KaiTi"/>
              </a:rPr>
              <a:t>YARRRML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2898" y="2286000"/>
            <a:ext cx="201168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编写映射规则</a:t>
            </a:r>
            <a:br/>
            <a:r>
              <a:rPr>
                <a:ea typeface="KaiTi"/>
              </a:rPr>
              <a:t>(表→实体)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31738" y="1463040"/>
            <a:ext cx="528218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6BA6"/>
                </a:solidFill>
                <a:latin typeface="Arial"/>
              </a:defRPr>
            </a:pPr>
            <a:r>
              <a:rPr>
                <a:ea typeface="KaiTi"/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9956" y="1371600"/>
            <a:ext cx="2286000" cy="457200"/>
          </a:xfrm>
          <a:prstGeom prst="rect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7116" y="1371600"/>
            <a:ext cx="2011680" cy="4572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Step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9956" y="1828800"/>
            <a:ext cx="2286000" cy="10972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7116" y="1920240"/>
            <a:ext cx="201168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A53"/>
                </a:solidFill>
                <a:latin typeface="Arial"/>
              </a:defRPr>
            </a:pPr>
            <a:r>
              <a:rPr>
                <a:ea typeface="KaiTi"/>
              </a:rPr>
              <a:t>Morph-KGC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7116" y="2286000"/>
            <a:ext cx="201168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执行映射</a:t>
            </a:r>
            <a:br/>
            <a:r>
              <a:rPr>
                <a:ea typeface="KaiTi"/>
              </a:rPr>
              <a:t>生成知识图谱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5956" y="1463040"/>
            <a:ext cx="528218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7A53"/>
                </a:solidFill>
                <a:latin typeface="Arial"/>
              </a:defRPr>
            </a:pPr>
            <a:r>
              <a:rPr>
                <a:ea typeface="KaiTi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74175" y="1371600"/>
            <a:ext cx="2286000" cy="457200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11335" y="1371600"/>
            <a:ext cx="2011680" cy="4572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Step 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74175" y="1828800"/>
            <a:ext cx="2286000" cy="10972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11335" y="1920240"/>
            <a:ext cx="201168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D46A00"/>
                </a:solidFill>
                <a:latin typeface="Arial"/>
              </a:defRPr>
            </a:pPr>
            <a:r>
              <a:rPr>
                <a:ea typeface="KaiTi"/>
              </a:rPr>
              <a:t>Neo4j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11335" y="2286000"/>
            <a:ext cx="201168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存储查询</a:t>
            </a:r>
            <a:br/>
            <a:r>
              <a:rPr>
                <a:ea typeface="KaiTi"/>
              </a:rPr>
              <a:t>图遍历分析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2461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383280"/>
            <a:ext cx="10728655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选型理由</a:t>
            </a:r>
          </a:p>
        </p:txBody>
      </p:sp>
      <p:sp>
        <p:nvSpPr>
          <p:cNvPr id="29" name="Oval 28"/>
          <p:cNvSpPr/>
          <p:nvPr/>
        </p:nvSpPr>
        <p:spPr>
          <a:xfrm>
            <a:off x="731520" y="3840480"/>
            <a:ext cx="320040" cy="32004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3794760"/>
            <a:ext cx="1371600" cy="4114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Protégé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3794760"/>
            <a:ext cx="8686800" cy="4114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全球使用最广泛的本体编辑器，学术+企业社区成熟，支持 OWL 2 全特性</a:t>
            </a:r>
          </a:p>
        </p:txBody>
      </p:sp>
      <p:sp>
        <p:nvSpPr>
          <p:cNvPr id="32" name="Oval 31"/>
          <p:cNvSpPr/>
          <p:nvPr/>
        </p:nvSpPr>
        <p:spPr>
          <a:xfrm>
            <a:off x="731520" y="4343400"/>
            <a:ext cx="320040" cy="32004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4297680"/>
            <a:ext cx="1371600" cy="4114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Morph-KGC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0" y="4297680"/>
            <a:ext cx="8686800" cy="4114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Python 原生，支持 R2RML/RML/RML-star，可扩展到千万级三元组</a:t>
            </a:r>
          </a:p>
        </p:txBody>
      </p:sp>
      <p:sp>
        <p:nvSpPr>
          <p:cNvPr id="35" name="Oval 34"/>
          <p:cNvSpPr/>
          <p:nvPr/>
        </p:nvSpPr>
        <p:spPr>
          <a:xfrm>
            <a:off x="731520" y="4846320"/>
            <a:ext cx="320040" cy="32004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4440" y="4800600"/>
            <a:ext cx="1371600" cy="4114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Neo4j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60320" y="4800600"/>
            <a:ext cx="8686800" cy="4114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图数据库事实标准，Cypher 查询直观，APOC/GraphDataScience 生态丰富</a:t>
            </a:r>
          </a:p>
        </p:txBody>
      </p:sp>
      <p:sp>
        <p:nvSpPr>
          <p:cNvPr id="38" name="Oval 37"/>
          <p:cNvSpPr/>
          <p:nvPr/>
        </p:nvSpPr>
        <p:spPr>
          <a:xfrm>
            <a:off x="731520" y="5349240"/>
            <a:ext cx="320040" cy="32004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34440" y="5303520"/>
            <a:ext cx="1371600" cy="4114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整体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60320" y="5303520"/>
            <a:ext cx="8686800" cy="4114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基于 W3C 开放标准，组件可替换，无供应商锁定风险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开源本体数据映射工具梳理 — 推荐组合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关键要点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28016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280160"/>
            <a:ext cx="9601200" cy="3200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本体是语义枢纽，不是数据存储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691640"/>
            <a:ext cx="96012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通过 Data Binding 映射底层数据，自身只维护元数据定义——本体 = 业务的"词典" + "语法"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5146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514600"/>
            <a:ext cx="9601200" cy="3200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构建有规律：实体 → 数据绑定 → 关系 → 规则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926080"/>
            <a:ext cx="96012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5 阶段流程可复用，建议先用自动生成跑通，再手动精调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74904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749040"/>
            <a:ext cx="9601200" cy="3200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开源方案已能覆盖完整链路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160520"/>
            <a:ext cx="96012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Protégé + Morph-KGC + Neo4j 是最小可行组合，基于 W3C 标准无锁定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98348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983480"/>
            <a:ext cx="9601200" cy="3200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最终目标：让数据可理解、可推理、可行动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5394960"/>
            <a:ext cx="96012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从 SQL 查询到自然语言对话，本体是连接企业数据与 AI 的桥梁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669280"/>
            <a:ext cx="10728655" cy="64008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715000"/>
            <a:ext cx="10180015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"仅靠数据模型无法做好 Context 的落地，唯有引入本体，才能让数据真正变得可理解、可推理、可应用。"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微软本体管理功能深度解析 — 关键结论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附录：参考资源与延伸阅读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分类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280160"/>
            <a:ext cx="41148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资源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280160"/>
            <a:ext cx="54864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链接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072865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1097280" cy="38404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官方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737360"/>
            <a:ext cx="4114800" cy="38404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Fabric IQ 本体教程 (4步)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737360"/>
            <a:ext cx="5486400" cy="38404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learn.microsoft.com/fabric/iq/ontology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121408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21408"/>
            <a:ext cx="1097280" cy="38404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官方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121408"/>
            <a:ext cx="4114800" cy="38404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Fabric IQ 博客: Semantic Foundation for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121408"/>
            <a:ext cx="5486400" cy="38404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blog.fabric.microsoft.com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505456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505456"/>
            <a:ext cx="1097280" cy="38404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工具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505456"/>
            <a:ext cx="4114800" cy="38404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Protégé 本体编辑器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505456"/>
            <a:ext cx="5486400" cy="38404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protege.stanford.edu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889504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889504"/>
            <a:ext cx="1097280" cy="38404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工具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2889504"/>
            <a:ext cx="4114800" cy="38404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Morph-KGC 映射引擎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89504"/>
            <a:ext cx="5486400" cy="38404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github.com/morph-kgc/morph-kgc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273552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273552"/>
            <a:ext cx="1097280" cy="38404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工具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3273552"/>
            <a:ext cx="4114800" cy="38404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Neo4j 图数据库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273552"/>
            <a:ext cx="5486400" cy="38404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neo4j.com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65760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657600"/>
            <a:ext cx="1097280" cy="38404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工具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3657600"/>
            <a:ext cx="4114800" cy="38404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Neosemantics (n10s) Neo4j 插件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3657600"/>
            <a:ext cx="5486400" cy="38404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neo4j.com/blog/nodes/neosemantics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041648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041648"/>
            <a:ext cx="1097280" cy="38404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标准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4041648"/>
            <a:ext cx="4114800" cy="38404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W3C R2RML 映射语言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4041648"/>
            <a:ext cx="5486400" cy="38404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w3.org/TR/r2rml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425696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425696"/>
            <a:ext cx="1097280" cy="38404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标准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4425696"/>
            <a:ext cx="4114800" cy="38404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RML 映射语言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4425696"/>
            <a:ext cx="5486400" cy="38404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rml.io/specs/rml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4809744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4809744"/>
            <a:ext cx="1097280" cy="38404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标准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4809744"/>
            <a:ext cx="4114800" cy="38404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OWL 2 Web Ontology Language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4809744"/>
            <a:ext cx="5486400" cy="38404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w3.org/TR/owl2-overview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5193792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193792"/>
            <a:ext cx="1097280" cy="38404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社区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0" y="5193792"/>
            <a:ext cx="4114800" cy="38404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Awesome KGC Tools 列表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0" y="5193792"/>
            <a:ext cx="5486400" cy="38404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kg-construct.github.io/awesome-kgc-tools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557784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5577840"/>
            <a:ext cx="1097280" cy="38404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社区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28800" y="5577840"/>
            <a:ext cx="4114800" cy="38404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OpenKG 中文开放知识图谱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0" y="5577840"/>
            <a:ext cx="5486400" cy="38404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openkg.cn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5961888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综合参考资源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